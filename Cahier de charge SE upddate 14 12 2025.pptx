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4" r:id="rId6"/>
    <p:sldId id="268" r:id="rId7"/>
    <p:sldId id="269" r:id="rId8"/>
    <p:sldId id="270" r:id="rId9"/>
    <p:sldId id="260" r:id="rId10"/>
    <p:sldId id="262" r:id="rId11"/>
    <p:sldId id="265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1457" autoAdjust="0"/>
  </p:normalViewPr>
  <p:slideViewPr>
    <p:cSldViewPr snapToGrid="0">
      <p:cViewPr varScale="1">
        <p:scale>
          <a:sx n="78" d="100"/>
          <a:sy n="78" d="100"/>
        </p:scale>
        <p:origin x="83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M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FDF327-A153-4B6D-A5A9-D4F89A4FCA56}" type="datetimeFigureOut">
              <a:rPr lang="fr-CM" smtClean="0"/>
              <a:t>13/12/2025</a:t>
            </a:fld>
            <a:endParaRPr lang="fr-CM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M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M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M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DCEAF-4203-4883-BC85-0ED6BFD53DDC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522958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M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CEAF-4203-4883-BC85-0ED6BFD53DDC}" type="slidenum">
              <a:rPr lang="fr-CM" smtClean="0"/>
              <a:t>3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5021542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;;</a:t>
            </a:r>
            <a:endParaRPr lang="fr-CM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9DCEAF-4203-4883-BC85-0ED6BFD53DDC}" type="slidenum">
              <a:rPr lang="fr-CM" smtClean="0"/>
              <a:t>9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4243052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1848056D-9310-407D-BE1B-25142413514B}" type="datetimeFigureOut">
              <a:rPr lang="fr-CM" smtClean="0"/>
              <a:t>13/12/2025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fr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0BEB29A-8EC1-4C76-AFAE-AF6E229DF905}" type="slidenum">
              <a:rPr lang="fr-CM" smtClean="0"/>
              <a:t>‹N°›</a:t>
            </a:fld>
            <a:endParaRPr lang="fr-CM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34390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056D-9310-407D-BE1B-25142413514B}" type="datetimeFigureOut">
              <a:rPr lang="fr-CM" smtClean="0"/>
              <a:t>13/12/2025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29A-8EC1-4C76-AFAE-AF6E229DF905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1646788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848056D-9310-407D-BE1B-25142413514B}" type="datetimeFigureOut">
              <a:rPr lang="fr-CM" smtClean="0"/>
              <a:t>13/12/2025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fr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F0BEB29A-8EC1-4C76-AFAE-AF6E229DF905}" type="slidenum">
              <a:rPr lang="fr-CM" smtClean="0"/>
              <a:t>‹N°›</a:t>
            </a:fld>
            <a:endParaRPr lang="fr-CM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780403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056D-9310-407D-BE1B-25142413514B}" type="datetimeFigureOut">
              <a:rPr lang="fr-CM" smtClean="0"/>
              <a:t>13/12/2025</a:t>
            </a:fld>
            <a:endParaRPr lang="fr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29A-8EC1-4C76-AFAE-AF6E229DF905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1667626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056D-9310-407D-BE1B-25142413514B}" type="datetimeFigureOut">
              <a:rPr lang="fr-CM" smtClean="0"/>
              <a:t>13/12/2025</a:t>
            </a:fld>
            <a:endParaRPr lang="fr-CM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29A-8EC1-4C76-AFAE-AF6E229DF905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41587618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056D-9310-407D-BE1B-25142413514B}" type="datetimeFigureOut">
              <a:rPr lang="fr-CM" smtClean="0"/>
              <a:t>13/12/2025</a:t>
            </a:fld>
            <a:endParaRPr lang="fr-CM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29A-8EC1-4C76-AFAE-AF6E229DF905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993727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056D-9310-407D-BE1B-25142413514B}" type="datetimeFigureOut">
              <a:rPr lang="fr-CM" smtClean="0"/>
              <a:t>13/12/2025</a:t>
            </a:fld>
            <a:endParaRPr lang="fr-CM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29A-8EC1-4C76-AFAE-AF6E229DF905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955630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1848056D-9310-407D-BE1B-25142413514B}" type="datetimeFigureOut">
              <a:rPr lang="fr-CM" smtClean="0"/>
              <a:t>13/12/2025</a:t>
            </a:fld>
            <a:endParaRPr lang="fr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fr-C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F0BEB29A-8EC1-4C76-AFAE-AF6E229DF905}" type="slidenum">
              <a:rPr lang="fr-CM" smtClean="0"/>
              <a:t>‹N°›</a:t>
            </a:fld>
            <a:endParaRPr lang="fr-CM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93194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1848056D-9310-407D-BE1B-25142413514B}" type="datetimeFigureOut">
              <a:rPr lang="fr-CM" smtClean="0"/>
              <a:t>13/12/2025</a:t>
            </a:fld>
            <a:endParaRPr lang="fr-CM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fr-CM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F0BEB29A-8EC1-4C76-AFAE-AF6E229DF905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4272736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056D-9310-407D-BE1B-25142413514B}" type="datetimeFigureOut">
              <a:rPr lang="fr-CM" smtClean="0"/>
              <a:t>13/12/2025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29A-8EC1-4C76-AFAE-AF6E229DF905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3274971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8056D-9310-407D-BE1B-25142413514B}" type="datetimeFigureOut">
              <a:rPr lang="fr-CM" smtClean="0"/>
              <a:t>13/12/2025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EB29A-8EC1-4C76-AFAE-AF6E229DF905}" type="slidenum">
              <a:rPr lang="fr-CM" smtClean="0"/>
              <a:t>‹N°›</a:t>
            </a:fld>
            <a:endParaRPr lang="fr-CM"/>
          </a:p>
        </p:txBody>
      </p:sp>
    </p:spTree>
    <p:extLst>
      <p:ext uri="{BB962C8B-B14F-4D97-AF65-F5344CB8AC3E}">
        <p14:creationId xmlns:p14="http://schemas.microsoft.com/office/powerpoint/2010/main" val="2689555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848056D-9310-407D-BE1B-25142413514B}" type="datetimeFigureOut">
              <a:rPr lang="fr-CM" smtClean="0"/>
              <a:t>13/12/2025</a:t>
            </a:fld>
            <a:endParaRPr lang="fr-CM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fr-CM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0BEB29A-8EC1-4C76-AFAE-AF6E229DF905}" type="slidenum">
              <a:rPr lang="fr-CM" smtClean="0"/>
              <a:t>‹N°›</a:t>
            </a:fld>
            <a:endParaRPr lang="fr-CM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18153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9E6E6D-894E-500B-7CB5-5ED82EB8F8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09474" y="1122947"/>
            <a:ext cx="5037221" cy="4235116"/>
          </a:xfrm>
        </p:spPr>
        <p:txBody>
          <a:bodyPr/>
          <a:lstStyle/>
          <a:p>
            <a: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PROJET:</a:t>
            </a:r>
            <a:br>
              <a:rPr lang="fr-F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Conception et développement de RAM Dumper, outil d’extraction contrôlée du contenu de la mémoire vive sous NetBSD</a:t>
            </a:r>
            <a:endParaRPr lang="fr-CM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D4215CE-A706-7736-35DF-D031622B51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SOUS LA SUPERVISION DE m. NGUIMBUS</a:t>
            </a:r>
            <a:endParaRPr lang="fr-CM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38A18017-8D9A-1CB6-D9BD-A212AFF821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890" y="507664"/>
            <a:ext cx="1975269" cy="180554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22203E3-3154-9346-7A3A-7B7CFC729945}"/>
              </a:ext>
            </a:extLst>
          </p:cNvPr>
          <p:cNvSpPr txBox="1"/>
          <p:nvPr/>
        </p:nvSpPr>
        <p:spPr>
          <a:xfrm>
            <a:off x="8646695" y="4423843"/>
            <a:ext cx="34330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		EQUIPE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SIMO SOH  Yannick Dylan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TEMGOUA NJOUNANG Cedric Lionnel</a:t>
            </a:r>
            <a:endParaRPr lang="fr-CM" dirty="0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BFC81FF-2476-1C21-A594-48E2C9633918}"/>
              </a:ext>
            </a:extLst>
          </p:cNvPr>
          <p:cNvSpPr txBox="1"/>
          <p:nvPr/>
        </p:nvSpPr>
        <p:spPr>
          <a:xfrm>
            <a:off x="8150881" y="72008"/>
            <a:ext cx="421907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+mj-lt"/>
              </a:rPr>
              <a:t>SYSTEME D’EXPLOITATION </a:t>
            </a:r>
            <a:endParaRPr lang="fr-CM" sz="48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47432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2FE367-5DDB-C79B-070C-44074FF02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CAHIER DES CHARGES</a:t>
            </a:r>
            <a:endParaRPr lang="fr-CM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7535B3-8E0F-CDF2-F731-1BC50E80C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/>
              <a:t>	</a:t>
            </a:r>
            <a:r>
              <a:rPr lang="en-US" sz="3600" b="1" u="sng" dirty="0"/>
              <a:t>PLAN : </a:t>
            </a:r>
          </a:p>
          <a:p>
            <a:pPr marL="0" indent="0">
              <a:buNone/>
            </a:pPr>
            <a:r>
              <a:rPr lang="en-US" sz="3600" b="1" dirty="0"/>
              <a:t>	1. Presentation &amp; Contexte du </a:t>
            </a:r>
            <a:r>
              <a:rPr lang="fr-CM" sz="3600" b="1" dirty="0"/>
              <a:t>projet </a:t>
            </a:r>
          </a:p>
          <a:p>
            <a:pPr marL="0" indent="0">
              <a:buNone/>
            </a:pPr>
            <a:r>
              <a:rPr lang="fr-CM" sz="3600" b="1" dirty="0"/>
              <a:t>	2. Objectifs </a:t>
            </a:r>
          </a:p>
          <a:p>
            <a:pPr marL="0" indent="0">
              <a:buNone/>
            </a:pPr>
            <a:r>
              <a:rPr lang="fr-CM" sz="3600" b="1" dirty="0"/>
              <a:t>	3. Budgétisation</a:t>
            </a:r>
          </a:p>
          <a:p>
            <a:pPr marL="0" indent="0">
              <a:buNone/>
            </a:pPr>
            <a:r>
              <a:rPr lang="fr-CM" sz="3600" b="1" dirty="0"/>
              <a:t>	4. Spécificités </a:t>
            </a:r>
            <a:r>
              <a:rPr lang="en-US" sz="3600" b="1" dirty="0"/>
              <a:t>&amp;</a:t>
            </a:r>
            <a:r>
              <a:rPr lang="fr-CM" sz="3600" b="1" dirty="0"/>
              <a:t> Planification </a:t>
            </a:r>
          </a:p>
          <a:p>
            <a:pPr marL="0" indent="0">
              <a:buNone/>
            </a:pPr>
            <a:endParaRPr lang="fr-CM" dirty="0"/>
          </a:p>
          <a:p>
            <a:pPr marL="0" indent="0">
              <a:buNone/>
            </a:pPr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1166817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5EBE3F-7FBF-3A99-46AE-EFACC2F2D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dirty="0"/>
              <a:t>1</a:t>
            </a:r>
            <a:r>
              <a:rPr lang="en-US" sz="4900" dirty="0"/>
              <a:t>. Presentation &amp; Contexte du </a:t>
            </a:r>
            <a:r>
              <a:rPr lang="fr-CM" sz="4900" dirty="0"/>
              <a:t>projet</a:t>
            </a:r>
            <a:br>
              <a:rPr lang="fr-CM" sz="4900" dirty="0"/>
            </a:br>
            <a:endParaRPr lang="fr-CM" sz="49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5CC35FA-434D-8ECA-1838-FC9B5F2C5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411705"/>
            <a:ext cx="10178322" cy="506391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/>
              <a:t>RAM Dumper est un logiciel spécial, comme un « docteur » pour l’ordinateur. Imaginez votre RAM comme une mémoire physique volatile</a:t>
            </a:r>
            <a:r>
              <a:rPr lang="en-US" sz="2400" dirty="0"/>
              <a:t>, </a:t>
            </a:r>
            <a:r>
              <a:rPr lang="fr-FR" sz="2400" dirty="0"/>
              <a:t>qui stocke temporairement les données et instructions nécessaires à l’exécution des programmes</a:t>
            </a:r>
            <a:r>
              <a:rPr lang="fr-CM" sz="2400" dirty="0"/>
              <a:t>. </a:t>
            </a:r>
            <a:r>
              <a:rPr lang="fr-FR" sz="2400" dirty="0"/>
              <a:t>Ce programme regarde à l'intérieur de la mémoire vive (RAM)  d'un système NetBSD </a:t>
            </a:r>
            <a:r>
              <a:rPr lang="fr-CM" sz="2400" dirty="0"/>
              <a:t>très stable. </a:t>
            </a:r>
            <a:r>
              <a:rPr lang="fr-FR" sz="2400" b="1" dirty="0"/>
              <a:t>NetBSD</a:t>
            </a:r>
            <a:r>
              <a:rPr lang="fr-CM" sz="2400" b="1" dirty="0"/>
              <a:t> a été crée par </a:t>
            </a:r>
            <a:r>
              <a:rPr lang="fr-FR" sz="2400" b="1" dirty="0"/>
              <a:t>Makoto Fujiwara en 2005, </a:t>
            </a:r>
            <a:r>
              <a:rPr lang="fr-FR" sz="2400" dirty="0"/>
              <a:t>afin de permettre d’extraire le contenu de la mémoire vive (RAM) pour le diagnostic et le débogage des systèmes. </a:t>
            </a:r>
            <a:r>
              <a:rPr lang="fr-FR" sz="2400" b="1" dirty="0"/>
              <a:t>L'idée vient d'un besoin réel</a:t>
            </a:r>
            <a:r>
              <a:rPr lang="fr-FR" sz="2400" dirty="0"/>
              <a:t>, de capturer le contenu volatile de la RAM pour analyser, sécuriser ou investiguer des données temporaires qui disparaitraient autrement à l’arrêt du système.   </a:t>
            </a:r>
            <a:endParaRPr lang="fr-CM" sz="2400" dirty="0"/>
          </a:p>
        </p:txBody>
      </p:sp>
    </p:spTree>
    <p:extLst>
      <p:ext uri="{BB962C8B-B14F-4D97-AF65-F5344CB8AC3E}">
        <p14:creationId xmlns:p14="http://schemas.microsoft.com/office/powerpoint/2010/main" val="3539210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2B6DFE-5EDE-A701-AC35-1BD2AB0DC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17906"/>
            <a:ext cx="10178322" cy="804731"/>
          </a:xfrm>
        </p:spPr>
        <p:txBody>
          <a:bodyPr/>
          <a:lstStyle/>
          <a:p>
            <a:r>
              <a:rPr lang="en-US" dirty="0"/>
              <a:t>2. oBJECTIFS</a:t>
            </a:r>
            <a:endParaRPr lang="fr-CM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EE60F83-2A82-293C-29C4-00773A704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525003"/>
            <a:ext cx="10178322" cy="16362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b="1" dirty="0"/>
              <a:t>Objectif principal </a:t>
            </a:r>
            <a:r>
              <a:rPr lang="en-US" sz="2400" dirty="0"/>
              <a:t>: </a:t>
            </a:r>
            <a:r>
              <a:rPr lang="fr-CM" sz="2400" dirty="0"/>
              <a:t>Cartographier </a:t>
            </a:r>
            <a:r>
              <a:rPr lang="fr-FR" sz="2400" dirty="0"/>
              <a:t>des blocs mémoire utilisés par chaque fichier, </a:t>
            </a:r>
            <a:r>
              <a:rPr lang="fr-CM" sz="2400" dirty="0"/>
              <a:t>estimer la fragmentation, </a:t>
            </a:r>
            <a:r>
              <a:rPr lang="fr-FR" sz="2400" dirty="0"/>
              <a:t>faire un rapport complet sur l'état de la RAM. </a:t>
            </a:r>
            <a:r>
              <a:rPr lang="fr-CM" sz="2400" dirty="0"/>
              <a:t>RAM Dumper ne se limite pas seulement a montrer juste l’espace libre mais ajoute une carte colorée et des calculs précis.  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6820E015-F102-ED17-5C31-A1CD80D8A523}"/>
              </a:ext>
            </a:extLst>
          </p:cNvPr>
          <p:cNvSpPr txBox="1">
            <a:spLocks/>
          </p:cNvSpPr>
          <p:nvPr/>
        </p:nvSpPr>
        <p:spPr>
          <a:xfrm>
            <a:off x="1251678" y="3415725"/>
            <a:ext cx="10178322" cy="80473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Besoins fonctionnels</a:t>
            </a:r>
            <a:endParaRPr lang="fr-CM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10DBE765-A832-A5F1-4B0C-71A00A1F449F}"/>
              </a:ext>
            </a:extLst>
          </p:cNvPr>
          <p:cNvSpPr txBox="1">
            <a:spLocks/>
          </p:cNvSpPr>
          <p:nvPr/>
        </p:nvSpPr>
        <p:spPr>
          <a:xfrm>
            <a:off x="1251678" y="4220457"/>
            <a:ext cx="10178322" cy="24163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Accéder à la memoire vive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Extraction controlée de la RAM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Gestion des privileges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CM" sz="2400" dirty="0"/>
              <a:t>Dashboard visuel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fr-CM" sz="2400" dirty="0"/>
              <a:t>Rapport global</a:t>
            </a:r>
          </a:p>
        </p:txBody>
      </p:sp>
    </p:spTree>
    <p:extLst>
      <p:ext uri="{BB962C8B-B14F-4D97-AF65-F5344CB8AC3E}">
        <p14:creationId xmlns:p14="http://schemas.microsoft.com/office/powerpoint/2010/main" val="3447994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CF399B0-BE23-4B21-8EC2-887FB275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12981"/>
          </a:xfrm>
        </p:spPr>
        <p:txBody>
          <a:bodyPr/>
          <a:lstStyle/>
          <a:p>
            <a:r>
              <a:rPr lang="fr-FR" dirty="0"/>
              <a:t>3.Budgétisation du projet</a:t>
            </a:r>
            <a:endParaRPr lang="fr-CM" dirty="0"/>
          </a:p>
        </p:txBody>
      </p:sp>
      <p:graphicFrame>
        <p:nvGraphicFramePr>
          <p:cNvPr id="10" name="Tableau 10">
            <a:extLst>
              <a:ext uri="{FF2B5EF4-FFF2-40B4-BE49-F238E27FC236}">
                <a16:creationId xmlns:a16="http://schemas.microsoft.com/office/drawing/2014/main" id="{897B57D1-A972-4846-9635-E80B8A859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4431887"/>
              </p:ext>
            </p:extLst>
          </p:nvPr>
        </p:nvGraphicFramePr>
        <p:xfrm>
          <a:off x="1230737" y="1418734"/>
          <a:ext cx="10006015" cy="39131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1554">
                  <a:extLst>
                    <a:ext uri="{9D8B030D-6E8A-4147-A177-3AD203B41FA5}">
                      <a16:colId xmlns:a16="http://schemas.microsoft.com/office/drawing/2014/main" val="440183899"/>
                    </a:ext>
                  </a:extLst>
                </a:gridCol>
                <a:gridCol w="3420852">
                  <a:extLst>
                    <a:ext uri="{9D8B030D-6E8A-4147-A177-3AD203B41FA5}">
                      <a16:colId xmlns:a16="http://schemas.microsoft.com/office/drawing/2014/main" val="525593909"/>
                    </a:ext>
                  </a:extLst>
                </a:gridCol>
                <a:gridCol w="2001203">
                  <a:extLst>
                    <a:ext uri="{9D8B030D-6E8A-4147-A177-3AD203B41FA5}">
                      <a16:colId xmlns:a16="http://schemas.microsoft.com/office/drawing/2014/main" val="2162109651"/>
                    </a:ext>
                  </a:extLst>
                </a:gridCol>
                <a:gridCol w="2001203">
                  <a:extLst>
                    <a:ext uri="{9D8B030D-6E8A-4147-A177-3AD203B41FA5}">
                      <a16:colId xmlns:a16="http://schemas.microsoft.com/office/drawing/2014/main" val="2426199133"/>
                    </a:ext>
                  </a:extLst>
                </a:gridCol>
                <a:gridCol w="2001203">
                  <a:extLst>
                    <a:ext uri="{9D8B030D-6E8A-4147-A177-3AD203B41FA5}">
                      <a16:colId xmlns:a16="http://schemas.microsoft.com/office/drawing/2014/main" val="1040693294"/>
                    </a:ext>
                  </a:extLst>
                </a:gridCol>
              </a:tblGrid>
              <a:tr h="294980">
                <a:tc>
                  <a:txBody>
                    <a:bodyPr/>
                    <a:lstStyle/>
                    <a:p>
                      <a:r>
                        <a:rPr lang="fr-CM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Matériel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Qté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Cout unitaire(FCFA)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043138"/>
                  </a:ext>
                </a:extLst>
              </a:tr>
              <a:tr h="1381961">
                <a:tc>
                  <a:txBody>
                    <a:bodyPr/>
                    <a:lstStyle/>
                    <a:p>
                      <a:r>
                        <a:rPr lang="fr-CM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Ordinateur de développement (RAM 32 Go, DD SSD 1To, CPU Intel Core i5, etc)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Machine principale pour installer NetBSD et développer l’outil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750 000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552022"/>
                  </a:ext>
                </a:extLst>
              </a:tr>
              <a:tr h="945552">
                <a:tc>
                  <a:txBody>
                    <a:bodyPr/>
                    <a:lstStyle/>
                    <a:p>
                      <a:r>
                        <a:rPr lang="fr-CM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Box internet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Permet de fournir un accès internet (TP -Link DIR-615)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25 000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80557"/>
                  </a:ext>
                </a:extLst>
              </a:tr>
              <a:tr h="945552">
                <a:tc gridSpan="3">
                  <a:txBody>
                    <a:bodyPr/>
                    <a:lstStyle/>
                    <a:p>
                      <a:r>
                        <a:rPr lang="fr-CM" dirty="0"/>
                        <a:t>Total </a:t>
                      </a:r>
                    </a:p>
                    <a:p>
                      <a:r>
                        <a:rPr lang="fr-CM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fr-CM" dirty="0"/>
                        <a:t>Total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fr-CM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775 000 FCFA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409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0270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CF399B0-BE23-4B21-8EC2-887FB275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12981"/>
          </a:xfrm>
        </p:spPr>
        <p:txBody>
          <a:bodyPr/>
          <a:lstStyle/>
          <a:p>
            <a:r>
              <a:rPr lang="fr-FR" dirty="0"/>
              <a:t>Budgétisation du projet</a:t>
            </a:r>
            <a:endParaRPr lang="fr-CM" dirty="0"/>
          </a:p>
        </p:txBody>
      </p:sp>
      <p:graphicFrame>
        <p:nvGraphicFramePr>
          <p:cNvPr id="10" name="Tableau 10">
            <a:extLst>
              <a:ext uri="{FF2B5EF4-FFF2-40B4-BE49-F238E27FC236}">
                <a16:creationId xmlns:a16="http://schemas.microsoft.com/office/drawing/2014/main" id="{897B57D1-A972-4846-9635-E80B8A859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3611262"/>
              </p:ext>
            </p:extLst>
          </p:nvPr>
        </p:nvGraphicFramePr>
        <p:xfrm>
          <a:off x="1147983" y="1144537"/>
          <a:ext cx="10178322" cy="5028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6387">
                  <a:extLst>
                    <a:ext uri="{9D8B030D-6E8A-4147-A177-3AD203B41FA5}">
                      <a16:colId xmlns:a16="http://schemas.microsoft.com/office/drawing/2014/main" val="440183899"/>
                    </a:ext>
                  </a:extLst>
                </a:gridCol>
                <a:gridCol w="1696387">
                  <a:extLst>
                    <a:ext uri="{9D8B030D-6E8A-4147-A177-3AD203B41FA5}">
                      <a16:colId xmlns:a16="http://schemas.microsoft.com/office/drawing/2014/main" val="525593909"/>
                    </a:ext>
                  </a:extLst>
                </a:gridCol>
                <a:gridCol w="1696387">
                  <a:extLst>
                    <a:ext uri="{9D8B030D-6E8A-4147-A177-3AD203B41FA5}">
                      <a16:colId xmlns:a16="http://schemas.microsoft.com/office/drawing/2014/main" val="2162109651"/>
                    </a:ext>
                  </a:extLst>
                </a:gridCol>
                <a:gridCol w="1696387">
                  <a:extLst>
                    <a:ext uri="{9D8B030D-6E8A-4147-A177-3AD203B41FA5}">
                      <a16:colId xmlns:a16="http://schemas.microsoft.com/office/drawing/2014/main" val="1040693294"/>
                    </a:ext>
                  </a:extLst>
                </a:gridCol>
                <a:gridCol w="1696387">
                  <a:extLst>
                    <a:ext uri="{9D8B030D-6E8A-4147-A177-3AD203B41FA5}">
                      <a16:colId xmlns:a16="http://schemas.microsoft.com/office/drawing/2014/main" val="4052145396"/>
                    </a:ext>
                  </a:extLst>
                </a:gridCol>
                <a:gridCol w="1696387">
                  <a:extLst>
                    <a:ext uri="{9D8B030D-6E8A-4147-A177-3AD203B41FA5}">
                      <a16:colId xmlns:a16="http://schemas.microsoft.com/office/drawing/2014/main" val="2769824378"/>
                    </a:ext>
                  </a:extLst>
                </a:gridCol>
              </a:tblGrid>
              <a:tr h="439816">
                <a:tc>
                  <a:txBody>
                    <a:bodyPr/>
                    <a:lstStyle/>
                    <a:p>
                      <a:r>
                        <a:rPr lang="fr-CM" sz="16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Ressource Humaine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Responsabilité principales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Durée (Jours)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M" sz="1600" dirty="0"/>
                        <a:t>Cout unitaire (FCFA)</a:t>
                      </a:r>
                    </a:p>
                    <a:p>
                      <a:endParaRPr lang="fr-CM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M" sz="1600" dirty="0"/>
                        <a:t>Cout Total (FCFA)</a:t>
                      </a:r>
                    </a:p>
                    <a:p>
                      <a:endParaRPr lang="fr-CM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043138"/>
                  </a:ext>
                </a:extLst>
              </a:tr>
              <a:tr h="1193787">
                <a:tc>
                  <a:txBody>
                    <a:bodyPr/>
                    <a:lstStyle/>
                    <a:p>
                      <a:r>
                        <a:rPr lang="fr-CM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Analyste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Analysé les besoins, définir les spécifications fonctionnelles et techniques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18 Jours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25 000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450 000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552022"/>
                  </a:ext>
                </a:extLst>
              </a:tr>
              <a:tr h="628309">
                <a:tc>
                  <a:txBody>
                    <a:bodyPr/>
                    <a:lstStyle/>
                    <a:p>
                      <a:r>
                        <a:rPr lang="fr-CM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Développeur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 concevoir et développer la solution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22 Jours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25 000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550 000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80557"/>
                  </a:ext>
                </a:extLst>
              </a:tr>
              <a:tr h="1005294">
                <a:tc>
                  <a:txBody>
                    <a:bodyPr/>
                    <a:lstStyle/>
                    <a:p>
                      <a:r>
                        <a:rPr lang="fr-CM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Administrateur système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installer Ram Dumper et maintenir le service disponible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35 000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70 000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989630"/>
                  </a:ext>
                </a:extLst>
              </a:tr>
              <a:tr h="1005294">
                <a:tc>
                  <a:txBody>
                    <a:bodyPr/>
                    <a:lstStyle/>
                    <a:p>
                      <a:r>
                        <a:rPr lang="fr-CM" sz="1600" b="1" dirty="0"/>
                        <a:t>Total</a:t>
                      </a:r>
                      <a:r>
                        <a:rPr lang="fr-CM" sz="1600" dirty="0"/>
                        <a:t> 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fr-CM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fr-CM" sz="1400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42 Jours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75 000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sz="1600" dirty="0"/>
                        <a:t>1 070 000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594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6924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CF399B0-BE23-4B21-8EC2-887FB275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12981"/>
          </a:xfrm>
        </p:spPr>
        <p:txBody>
          <a:bodyPr/>
          <a:lstStyle/>
          <a:p>
            <a:r>
              <a:rPr lang="fr-FR" dirty="0"/>
              <a:t>Budgétisation du projet</a:t>
            </a:r>
            <a:endParaRPr lang="fr-CM" dirty="0"/>
          </a:p>
        </p:txBody>
      </p:sp>
      <p:graphicFrame>
        <p:nvGraphicFramePr>
          <p:cNvPr id="10" name="Tableau 10">
            <a:extLst>
              <a:ext uri="{FF2B5EF4-FFF2-40B4-BE49-F238E27FC236}">
                <a16:creationId xmlns:a16="http://schemas.microsoft.com/office/drawing/2014/main" id="{897B57D1-A972-4846-9635-E80B8A859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5090954"/>
              </p:ext>
            </p:extLst>
          </p:nvPr>
        </p:nvGraphicFramePr>
        <p:xfrm>
          <a:off x="1150235" y="1192490"/>
          <a:ext cx="9891530" cy="4667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8306">
                  <a:extLst>
                    <a:ext uri="{9D8B030D-6E8A-4147-A177-3AD203B41FA5}">
                      <a16:colId xmlns:a16="http://schemas.microsoft.com/office/drawing/2014/main" val="440183899"/>
                    </a:ext>
                  </a:extLst>
                </a:gridCol>
                <a:gridCol w="1978306">
                  <a:extLst>
                    <a:ext uri="{9D8B030D-6E8A-4147-A177-3AD203B41FA5}">
                      <a16:colId xmlns:a16="http://schemas.microsoft.com/office/drawing/2014/main" val="525593909"/>
                    </a:ext>
                  </a:extLst>
                </a:gridCol>
                <a:gridCol w="1978306">
                  <a:extLst>
                    <a:ext uri="{9D8B030D-6E8A-4147-A177-3AD203B41FA5}">
                      <a16:colId xmlns:a16="http://schemas.microsoft.com/office/drawing/2014/main" val="2162109651"/>
                    </a:ext>
                  </a:extLst>
                </a:gridCol>
                <a:gridCol w="1978306">
                  <a:extLst>
                    <a:ext uri="{9D8B030D-6E8A-4147-A177-3AD203B41FA5}">
                      <a16:colId xmlns:a16="http://schemas.microsoft.com/office/drawing/2014/main" val="2426199133"/>
                    </a:ext>
                  </a:extLst>
                </a:gridCol>
                <a:gridCol w="1978306">
                  <a:extLst>
                    <a:ext uri="{9D8B030D-6E8A-4147-A177-3AD203B41FA5}">
                      <a16:colId xmlns:a16="http://schemas.microsoft.com/office/drawing/2014/main" val="4052145396"/>
                    </a:ext>
                  </a:extLst>
                </a:gridCol>
              </a:tblGrid>
              <a:tr h="834583">
                <a:tc>
                  <a:txBody>
                    <a:bodyPr/>
                    <a:lstStyle/>
                    <a:p>
                      <a:r>
                        <a:rPr lang="fr-CM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Logiciel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Description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Qté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Cout Total(FCFA)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043138"/>
                  </a:ext>
                </a:extLst>
              </a:tr>
              <a:tr h="1192261">
                <a:tc>
                  <a:txBody>
                    <a:bodyPr/>
                    <a:lstStyle/>
                    <a:p>
                      <a:r>
                        <a:rPr lang="fr-CM" dirty="0"/>
                        <a:t>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NetBSD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M" dirty="0"/>
                        <a:t>Système d’exploitation  </a:t>
                      </a:r>
                    </a:p>
                    <a:p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552022"/>
                  </a:ext>
                </a:extLst>
              </a:tr>
              <a:tr h="1192261">
                <a:tc>
                  <a:txBody>
                    <a:bodyPr/>
                    <a:lstStyle/>
                    <a:p>
                      <a:r>
                        <a:rPr lang="fr-CM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VMWare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Outil de virtualisation de L’OS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80557"/>
                  </a:ext>
                </a:extLst>
              </a:tr>
              <a:tr h="834583">
                <a:tc>
                  <a:txBody>
                    <a:bodyPr/>
                    <a:lstStyle/>
                    <a:p>
                      <a:r>
                        <a:rPr lang="fr-CM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 err="1"/>
                        <a:t>Navigteur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Afficher le Dashboard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989630"/>
                  </a:ext>
                </a:extLst>
              </a:tr>
              <a:tr h="613848">
                <a:tc gridSpan="3">
                  <a:txBody>
                    <a:bodyPr/>
                    <a:lstStyle/>
                    <a:p>
                      <a:r>
                        <a:rPr lang="fr-CM" dirty="0"/>
                        <a:t>Total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M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7641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398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>
            <a:extLst>
              <a:ext uri="{FF2B5EF4-FFF2-40B4-BE49-F238E27FC236}">
                <a16:creationId xmlns:a16="http://schemas.microsoft.com/office/drawing/2014/main" id="{1CF399B0-BE23-4B21-8EC2-887FB2755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12981"/>
          </a:xfrm>
        </p:spPr>
        <p:txBody>
          <a:bodyPr/>
          <a:lstStyle/>
          <a:p>
            <a:r>
              <a:rPr lang="fr-FR" dirty="0"/>
              <a:t>Budgétisation du projet</a:t>
            </a:r>
            <a:endParaRPr lang="fr-CM" dirty="0"/>
          </a:p>
        </p:txBody>
      </p:sp>
      <p:graphicFrame>
        <p:nvGraphicFramePr>
          <p:cNvPr id="10" name="Tableau 10">
            <a:extLst>
              <a:ext uri="{FF2B5EF4-FFF2-40B4-BE49-F238E27FC236}">
                <a16:creationId xmlns:a16="http://schemas.microsoft.com/office/drawing/2014/main" id="{897B57D1-A972-4846-9635-E80B8A8594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3031024"/>
              </p:ext>
            </p:extLst>
          </p:nvPr>
        </p:nvGraphicFramePr>
        <p:xfrm>
          <a:off x="1250950" y="2285998"/>
          <a:ext cx="9231657" cy="3868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7219">
                  <a:extLst>
                    <a:ext uri="{9D8B030D-6E8A-4147-A177-3AD203B41FA5}">
                      <a16:colId xmlns:a16="http://schemas.microsoft.com/office/drawing/2014/main" val="440183899"/>
                    </a:ext>
                  </a:extLst>
                </a:gridCol>
                <a:gridCol w="3077219">
                  <a:extLst>
                    <a:ext uri="{9D8B030D-6E8A-4147-A177-3AD203B41FA5}">
                      <a16:colId xmlns:a16="http://schemas.microsoft.com/office/drawing/2014/main" val="525593909"/>
                    </a:ext>
                  </a:extLst>
                </a:gridCol>
                <a:gridCol w="3077219">
                  <a:extLst>
                    <a:ext uri="{9D8B030D-6E8A-4147-A177-3AD203B41FA5}">
                      <a16:colId xmlns:a16="http://schemas.microsoft.com/office/drawing/2014/main" val="4052145396"/>
                    </a:ext>
                  </a:extLst>
                </a:gridCol>
              </a:tblGrid>
              <a:tr h="773799">
                <a:tc>
                  <a:txBody>
                    <a:bodyPr/>
                    <a:lstStyle/>
                    <a:p>
                      <a:r>
                        <a:rPr lang="fr-CM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 err="1"/>
                        <a:t>Libéllé</a:t>
                      </a:r>
                      <a:r>
                        <a:rPr lang="fr-CM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Cout Total FCFA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3043138"/>
                  </a:ext>
                </a:extLst>
              </a:tr>
              <a:tr h="773799">
                <a:tc>
                  <a:txBody>
                    <a:bodyPr/>
                    <a:lstStyle/>
                    <a:p>
                      <a:r>
                        <a:rPr lang="fr-CM" dirty="0"/>
                        <a:t>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1 070 000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5552022"/>
                  </a:ext>
                </a:extLst>
              </a:tr>
              <a:tr h="773799">
                <a:tc>
                  <a:txBody>
                    <a:bodyPr/>
                    <a:lstStyle/>
                    <a:p>
                      <a:r>
                        <a:rPr lang="fr-CM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MATERIEL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775 000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080557"/>
                  </a:ext>
                </a:extLst>
              </a:tr>
              <a:tr h="773799">
                <a:tc>
                  <a:txBody>
                    <a:bodyPr/>
                    <a:lstStyle/>
                    <a:p>
                      <a:r>
                        <a:rPr lang="fr-CM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LOGICIEL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0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989630"/>
                  </a:ext>
                </a:extLst>
              </a:tr>
              <a:tr h="773799">
                <a:tc gridSpan="2">
                  <a:txBody>
                    <a:bodyPr/>
                    <a:lstStyle/>
                    <a:p>
                      <a:r>
                        <a:rPr lang="fr-CM" b="1" dirty="0"/>
                        <a:t>TOTAL</a:t>
                      </a:r>
                      <a:r>
                        <a:rPr lang="fr-CM" dirty="0"/>
                        <a:t> 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b="1" dirty="0"/>
                        <a:t>1 745 000 FCFA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6246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112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72884E7-484F-4717-6B32-4495C4BC2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</a:t>
            </a:r>
            <a:endParaRPr lang="fr-CM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FA2A8A3-50B4-942C-219E-DE271132F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2717" y="1632204"/>
            <a:ext cx="10423161" cy="1591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Capturer du processus de la Mémoire vive , exporter la Mémoire vive pour analyse, acquisition des Données du noyau </a:t>
            </a:r>
            <a:endParaRPr lang="fr-CM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4D5E7B56-FD1D-D529-A867-40734390C8B4}"/>
              </a:ext>
            </a:extLst>
          </p:cNvPr>
          <p:cNvSpPr txBox="1">
            <a:spLocks/>
          </p:cNvSpPr>
          <p:nvPr/>
        </p:nvSpPr>
        <p:spPr>
          <a:xfrm>
            <a:off x="1006839" y="3429000"/>
            <a:ext cx="10178322" cy="8181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Perimetre </a:t>
            </a:r>
            <a:endParaRPr lang="fr-CM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98DEF7C7-4CA9-6B96-90D2-8BB9D95EF051}"/>
              </a:ext>
            </a:extLst>
          </p:cNvPr>
          <p:cNvSpPr txBox="1">
            <a:spLocks/>
          </p:cNvSpPr>
          <p:nvPr/>
        </p:nvSpPr>
        <p:spPr>
          <a:xfrm>
            <a:off x="1303618" y="4247147"/>
            <a:ext cx="10178322" cy="22659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b="1" dirty="0"/>
              <a:t>Organisation</a:t>
            </a:r>
            <a:r>
              <a:rPr lang="en-US" sz="2400" dirty="0"/>
              <a:t> : produit final 42 Jours  (dossier d’analyse, conception, réalisation. Rapport de déploiement du projet)</a:t>
            </a:r>
          </a:p>
          <a:p>
            <a:pPr marL="0" indent="0">
              <a:buNone/>
            </a:pPr>
            <a:r>
              <a:rPr lang="en-US" sz="2400" dirty="0"/>
              <a:t>Critère : </a:t>
            </a:r>
            <a:r>
              <a:rPr lang="fr-CM" sz="2400" dirty="0"/>
              <a:t>Fiabilité 99%, </a:t>
            </a:r>
            <a:r>
              <a:rPr lang="fr-FR" sz="2400" dirty="0"/>
              <a:t>robustesse</a:t>
            </a:r>
            <a:endParaRPr lang="fr-CM" sz="2400" dirty="0"/>
          </a:p>
        </p:txBody>
      </p:sp>
    </p:spTree>
    <p:extLst>
      <p:ext uri="{BB962C8B-B14F-4D97-AF65-F5344CB8AC3E}">
        <p14:creationId xmlns:p14="http://schemas.microsoft.com/office/powerpoint/2010/main" val="510579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02E80E-BCA0-320B-275C-945480866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39" y="153995"/>
            <a:ext cx="10178322" cy="1492132"/>
          </a:xfrm>
        </p:spPr>
        <p:txBody>
          <a:bodyPr/>
          <a:lstStyle/>
          <a:p>
            <a:r>
              <a:rPr lang="en-US" dirty="0"/>
              <a:t>4. Specificites  </a:t>
            </a:r>
            <a:endParaRPr lang="fr-CM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0A4693-2829-73CF-5770-019B253B4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6839" y="900061"/>
            <a:ext cx="10864319" cy="349960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fr-CM" sz="2400" dirty="0"/>
              <a:t>Acquisition en lecture seule de la mémoire vive </a:t>
            </a:r>
          </a:p>
          <a:p>
            <a:pPr marL="0" indent="0">
              <a:buNone/>
            </a:pPr>
            <a:r>
              <a:rPr lang="fr-CM" sz="2400" dirty="0"/>
              <a:t>Production d’un fichier d’image brut (raw etc)</a:t>
            </a:r>
          </a:p>
          <a:p>
            <a:pPr marL="0" indent="0">
              <a:buNone/>
            </a:pPr>
            <a:r>
              <a:rPr lang="fr-CM" sz="2400" dirty="0"/>
              <a:t>Support de mode sortie : vers un fichier local, vers un flux réseau</a:t>
            </a:r>
          </a:p>
          <a:p>
            <a:pPr marL="0" indent="0">
              <a:buNone/>
            </a:pPr>
            <a:r>
              <a:rPr lang="fr-CM" sz="2400" dirty="0"/>
              <a:t>But : Diagnostic. Intervenants : Kernel   </a:t>
            </a:r>
          </a:p>
          <a:p>
            <a:pPr marL="0" indent="0">
              <a:buNone/>
            </a:pPr>
            <a:r>
              <a:rPr lang="fr-CM" sz="2400" dirty="0"/>
              <a:t>Comment : Lecture raw → parse → visu.</a:t>
            </a:r>
            <a:endParaRPr lang="en-US" sz="2400" dirty="0"/>
          </a:p>
          <a:p>
            <a:pPr marL="0" indent="0">
              <a:buNone/>
            </a:pPr>
            <a:r>
              <a:rPr lang="fr-CM" sz="2400" dirty="0"/>
              <a:t>Dépendances : Minimales (libc NetBSD).</a:t>
            </a:r>
          </a:p>
          <a:p>
            <a:pPr marL="0" indent="0">
              <a:buNone/>
            </a:pPr>
            <a:endParaRPr lang="fr-CM" sz="2400" dirty="0"/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AFC785FA-4287-1C6A-1968-F137BCBA9F83}"/>
              </a:ext>
            </a:extLst>
          </p:cNvPr>
          <p:cNvSpPr txBox="1">
            <a:spLocks/>
          </p:cNvSpPr>
          <p:nvPr/>
        </p:nvSpPr>
        <p:spPr>
          <a:xfrm>
            <a:off x="1006839" y="3863057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livrables  </a:t>
            </a:r>
            <a:endParaRPr lang="fr-CM" dirty="0"/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00E0E358-B2C4-878B-7996-F841642513D4}"/>
              </a:ext>
            </a:extLst>
          </p:cNvPr>
          <p:cNvSpPr txBox="1">
            <a:spLocks/>
          </p:cNvSpPr>
          <p:nvPr/>
        </p:nvSpPr>
        <p:spPr>
          <a:xfrm>
            <a:off x="1006839" y="4773283"/>
            <a:ext cx="10178322" cy="1735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400" dirty="0"/>
              <a:t>Finalité : Exe 100% fonctionnel de la Ram Dumper .</a:t>
            </a:r>
            <a:br>
              <a:rPr lang="fr-FR" sz="2400" dirty="0"/>
            </a:br>
            <a:r>
              <a:rPr lang="fr-CM" sz="2400" dirty="0"/>
              <a:t>Documents : Cahier de charge, Dossier d’analyse, Dossier de conception Dossier de réalisation, Dossier de déploiement,</a:t>
            </a:r>
          </a:p>
        </p:txBody>
      </p:sp>
    </p:spTree>
    <p:extLst>
      <p:ext uri="{BB962C8B-B14F-4D97-AF65-F5344CB8AC3E}">
        <p14:creationId xmlns:p14="http://schemas.microsoft.com/office/powerpoint/2010/main" val="1692140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6F056A5-929D-43A4-9032-3045E4FE4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61953"/>
          </a:xfrm>
        </p:spPr>
        <p:txBody>
          <a:bodyPr/>
          <a:lstStyle/>
          <a:p>
            <a:r>
              <a:rPr lang="fr-FR" dirty="0"/>
              <a:t>PLANIFICATIONS DU PROJET</a:t>
            </a:r>
            <a:endParaRPr lang="fr-CM" dirty="0"/>
          </a:p>
        </p:txBody>
      </p:sp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0221705C-4E19-4D0B-B08E-12019D31C7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3077519"/>
              </p:ext>
            </p:extLst>
          </p:nvPr>
        </p:nvGraphicFramePr>
        <p:xfrm>
          <a:off x="1006475" y="1494148"/>
          <a:ext cx="10179049" cy="4711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913">
                  <a:extLst>
                    <a:ext uri="{9D8B030D-6E8A-4147-A177-3AD203B41FA5}">
                      <a16:colId xmlns:a16="http://schemas.microsoft.com/office/drawing/2014/main" val="3589239939"/>
                    </a:ext>
                  </a:extLst>
                </a:gridCol>
                <a:gridCol w="1979629">
                  <a:extLst>
                    <a:ext uri="{9D8B030D-6E8A-4147-A177-3AD203B41FA5}">
                      <a16:colId xmlns:a16="http://schemas.microsoft.com/office/drawing/2014/main" val="2268918806"/>
                    </a:ext>
                  </a:extLst>
                </a:gridCol>
                <a:gridCol w="2321983">
                  <a:extLst>
                    <a:ext uri="{9D8B030D-6E8A-4147-A177-3AD203B41FA5}">
                      <a16:colId xmlns:a16="http://schemas.microsoft.com/office/drawing/2014/main" val="982271206"/>
                    </a:ext>
                  </a:extLst>
                </a:gridCol>
                <a:gridCol w="1696508">
                  <a:extLst>
                    <a:ext uri="{9D8B030D-6E8A-4147-A177-3AD203B41FA5}">
                      <a16:colId xmlns:a16="http://schemas.microsoft.com/office/drawing/2014/main" val="1955727902"/>
                    </a:ext>
                  </a:extLst>
                </a:gridCol>
                <a:gridCol w="1696508">
                  <a:extLst>
                    <a:ext uri="{9D8B030D-6E8A-4147-A177-3AD203B41FA5}">
                      <a16:colId xmlns:a16="http://schemas.microsoft.com/office/drawing/2014/main" val="3122432044"/>
                    </a:ext>
                  </a:extLst>
                </a:gridCol>
                <a:gridCol w="1696508">
                  <a:extLst>
                    <a:ext uri="{9D8B030D-6E8A-4147-A177-3AD203B41FA5}">
                      <a16:colId xmlns:a16="http://schemas.microsoft.com/office/drawing/2014/main" val="4106416129"/>
                    </a:ext>
                  </a:extLst>
                </a:gridCol>
              </a:tblGrid>
              <a:tr h="427461">
                <a:tc>
                  <a:txBody>
                    <a:bodyPr/>
                    <a:lstStyle/>
                    <a:p>
                      <a:r>
                        <a:rPr lang="fr-FR" dirty="0"/>
                        <a:t>Phase 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Intitulé 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Activités principales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Date de début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Date de fin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Livrable</a:t>
                      </a:r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3279633"/>
                  </a:ext>
                </a:extLst>
              </a:tr>
              <a:tr h="1054013">
                <a:tc>
                  <a:txBody>
                    <a:bodyPr/>
                    <a:lstStyle/>
                    <a:p>
                      <a:r>
                        <a:rPr lang="fr-FR" dirty="0"/>
                        <a:t>Phase 1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Dossier d’analyse 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Analyse du besoin, étude de l’existant, définition des contraintes 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 15/12/2025 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24/12/2025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Dossier d’analyse </a:t>
                      </a:r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2038281"/>
                  </a:ext>
                </a:extLst>
              </a:tr>
              <a:tr h="737809">
                <a:tc>
                  <a:txBody>
                    <a:bodyPr/>
                    <a:lstStyle/>
                    <a:p>
                      <a:r>
                        <a:rPr lang="fr-FR" dirty="0"/>
                        <a:t>Phase 2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Dossier de conception 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Architecture, choix des outils, modélisation 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 25/12/2025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03/01/2026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Dossier de conception </a:t>
                      </a:r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9569725"/>
                  </a:ext>
                </a:extLst>
              </a:tr>
              <a:tr h="737809">
                <a:tc>
                  <a:txBody>
                    <a:bodyPr/>
                    <a:lstStyle/>
                    <a:p>
                      <a:r>
                        <a:rPr lang="fr-FR" dirty="0"/>
                        <a:t>Phase 3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Dossier de réalisation 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Développement, intégration, tests fonctionnels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 05/01/2026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30/01/2026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Dossier de réalisation </a:t>
                      </a:r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7596595"/>
                  </a:ext>
                </a:extLst>
              </a:tr>
              <a:tr h="1054013">
                <a:tc>
                  <a:txBody>
                    <a:bodyPr/>
                    <a:lstStyle/>
                    <a:p>
                      <a:r>
                        <a:rPr lang="fr-FR" dirty="0"/>
                        <a:t>Phase 4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Dossier de déploiement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Mise en place du système, validation finale, documentation 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 02/02/2026</a:t>
                      </a:r>
                      <a:endParaRPr lang="fr-CM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CM" dirty="0"/>
                        <a:t>04/02/2025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Rapport de déploiement du projet </a:t>
                      </a:r>
                      <a:endParaRPr lang="fr-CM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5880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51756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47F6E4-D08B-47E8-A322-380769DD1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908" y="3078451"/>
            <a:ext cx="10178322" cy="1492132"/>
          </a:xfrm>
        </p:spPr>
        <p:txBody>
          <a:bodyPr/>
          <a:lstStyle/>
          <a:p>
            <a:pPr algn="ctr"/>
            <a:r>
              <a:rPr lang="fr-FR" dirty="0"/>
              <a:t>CONCLUSION </a:t>
            </a:r>
            <a:endParaRPr lang="fr-CM" dirty="0"/>
          </a:p>
        </p:txBody>
      </p:sp>
    </p:spTree>
    <p:extLst>
      <p:ext uri="{BB962C8B-B14F-4D97-AF65-F5344CB8AC3E}">
        <p14:creationId xmlns:p14="http://schemas.microsoft.com/office/powerpoint/2010/main" val="1751208426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1994</TotalTime>
  <Words>711</Words>
  <Application>Microsoft Office PowerPoint</Application>
  <PresentationFormat>Grand écran</PresentationFormat>
  <Paragraphs>159</Paragraphs>
  <Slides>12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Gill Sans MT</vt:lpstr>
      <vt:lpstr>Impact</vt:lpstr>
      <vt:lpstr>Times New Roman</vt:lpstr>
      <vt:lpstr>Badge</vt:lpstr>
      <vt:lpstr>PROJET:  Conception et développement de RAM Dumper, outil d’extraction contrôlée du contenu de la mémoire vive sous NetBSD</vt:lpstr>
      <vt:lpstr>CAHIER DES CHARGES</vt:lpstr>
      <vt:lpstr>1. Presentation &amp; Contexte du projet </vt:lpstr>
      <vt:lpstr>2. oBJECTIFS</vt:lpstr>
      <vt:lpstr>3.Budgétisation du projet</vt:lpstr>
      <vt:lpstr>Budgétisation du projet</vt:lpstr>
      <vt:lpstr>Budgétisation du projet</vt:lpstr>
      <vt:lpstr>Budgétisation du projet</vt:lpstr>
      <vt:lpstr>Operations</vt:lpstr>
      <vt:lpstr>4. Specificites  </vt:lpstr>
      <vt:lpstr>PLANIFICATIONS DU PROJET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PROJET:  Conception et développement de RAM Dumper, outil d’extraction contrôlée du contenu de la mémoire vive sous NetBSD</dc:title>
  <dc:creator>yannick simo</dc:creator>
  <cp:lastModifiedBy>NJOUNANG, TEMGOUA</cp:lastModifiedBy>
  <cp:revision>113</cp:revision>
  <dcterms:created xsi:type="dcterms:W3CDTF">2025-12-11T16:07:08Z</dcterms:created>
  <dcterms:modified xsi:type="dcterms:W3CDTF">2025-12-14T07:44:18Z</dcterms:modified>
</cp:coreProperties>
</file>